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BEE6"/>
    <a:srgbClr val="FFFFFF"/>
    <a:srgbClr val="009CDE"/>
    <a:srgbClr val="FFD200"/>
    <a:srgbClr val="1E407C"/>
    <a:srgbClr val="25324A"/>
    <a:srgbClr val="F0F0F0"/>
    <a:srgbClr val="000000"/>
    <a:srgbClr val="A3AAAE"/>
    <a:srgbClr val="C7C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077B17-AB0D-B943-9EDD-46D47E9A0C44}" v="32" dt="2025-08-13T18:23:28.156"/>
  </p1510:revLst>
</p1510:revInfo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86421"/>
  </p:normalViewPr>
  <p:slideViewPr>
    <p:cSldViewPr snapToGrid="0">
      <p:cViewPr varScale="1">
        <p:scale>
          <a:sx n="68" d="100"/>
          <a:sy n="68" d="100"/>
        </p:scale>
        <p:origin x="1080" y="53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7776" y="193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42AEA1-A4D9-0CCB-F45A-B1E1439F1A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4A58F-8F56-AC2F-BF1F-CC6DC677BC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C506B-9C0A-7C42-AABC-F7A7C632EC5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AB37E-160B-D909-0FF9-07D0690CDC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8ED66-3D76-AA61-3811-390722B429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79E4A-7233-C749-8BF5-78FC642D4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74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9AC51-1594-3C45-9820-82036BC34A39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9D638-7D78-EA4A-A05B-01174BE0F3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51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ommCnrShld Graphic">
            <a:extLst>
              <a:ext uri="{FF2B5EF4-FFF2-40B4-BE49-F238E27FC236}">
                <a16:creationId xmlns:a16="http://schemas.microsoft.com/office/drawing/2014/main" id="{F373BAED-49B4-A922-D2DD-83B86D824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53400" y="2011680"/>
            <a:ext cx="4038601" cy="4846321"/>
            <a:chOff x="9550401" y="3688081"/>
            <a:chExt cx="2641599" cy="3169919"/>
          </a:xfrm>
        </p:grpSpPr>
        <p:sp>
          <p:nvSpPr>
            <p:cNvPr id="13" name="Corner Shield Shape Right">
              <a:extLst>
                <a:ext uri="{FF2B5EF4-FFF2-40B4-BE49-F238E27FC236}">
                  <a16:creationId xmlns:a16="http://schemas.microsoft.com/office/drawing/2014/main" id="{86A60D22-4897-D628-2F4B-29E49B076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14" name="Comm Shield Corner">
              <a:extLst>
                <a:ext uri="{FF2B5EF4-FFF2-40B4-BE49-F238E27FC236}">
                  <a16:creationId xmlns:a16="http://schemas.microsoft.com/office/drawing/2014/main" id="{6907CFA7-DA25-9315-C431-0372EFB1D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6EFBB5-30AC-C871-D426-6A0BE13F7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990600"/>
            <a:ext cx="9601200" cy="251936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4EB8D-C5EF-C32E-D8C7-15E1792F9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02038"/>
            <a:ext cx="9601200" cy="1274762"/>
          </a:xfrm>
        </p:spPr>
        <p:txBody>
          <a:bodyPr/>
          <a:lstStyle>
            <a:lvl1pPr marL="0" indent="0" algn="l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EBBAE-C4A0-F2D9-A43F-328BD416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2789" y="0"/>
            <a:ext cx="3089211" cy="914400"/>
          </a:xfrm>
        </p:spPr>
        <p:txBody>
          <a:bodyPr/>
          <a:lstStyle>
            <a:lvl1pPr algn="r">
              <a:defRPr/>
            </a:lvl1pPr>
          </a:lstStyle>
          <a:p>
            <a:fld id="{4D83A44C-8064-3F47-951D-EE74B1CE44B9}" type="datetime1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318BB-68AB-F92B-99D2-699E766B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F2ACF-01D0-F003-D6CD-197BC00E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679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ommCnrShld Graphic">
            <a:extLst>
              <a:ext uri="{FF2B5EF4-FFF2-40B4-BE49-F238E27FC236}">
                <a16:creationId xmlns:a16="http://schemas.microsoft.com/office/drawing/2014/main" id="{67AFFE4C-AD09-A4B4-266D-0CDBFC24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53400" y="2011680"/>
            <a:ext cx="4038601" cy="4846321"/>
            <a:chOff x="9550401" y="3688081"/>
            <a:chExt cx="2641599" cy="3169919"/>
          </a:xfrm>
        </p:grpSpPr>
        <p:sp>
          <p:nvSpPr>
            <p:cNvPr id="11" name="Corner Shield Shape Right">
              <a:extLst>
                <a:ext uri="{FF2B5EF4-FFF2-40B4-BE49-F238E27FC236}">
                  <a16:creationId xmlns:a16="http://schemas.microsoft.com/office/drawing/2014/main" id="{49D02B88-1226-677B-BE20-324F0F9CB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12" name="Comm Shield Corner">
              <a:extLst>
                <a:ext uri="{FF2B5EF4-FFF2-40B4-BE49-F238E27FC236}">
                  <a16:creationId xmlns:a16="http://schemas.microsoft.com/office/drawing/2014/main" id="{D6679DDB-1E63-F5D0-55BF-F77DEE0E6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DA0D94-A5D8-A033-57AC-B05EF010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37657"/>
            <a:ext cx="9677400" cy="2743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A5B9B-B0BE-4DBF-1904-4FDEF848F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590393"/>
            <a:ext cx="8228013" cy="120080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AE21E-52C8-F0D8-877A-7F63F8DE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2789" y="0"/>
            <a:ext cx="3089211" cy="914400"/>
          </a:xfrm>
        </p:spPr>
        <p:txBody>
          <a:bodyPr/>
          <a:lstStyle>
            <a:lvl1pPr algn="r">
              <a:defRPr/>
            </a:lvl1pPr>
          </a:lstStyle>
          <a:p>
            <a:fld id="{D3B27A41-27B9-E448-9F3A-69E294D7051D}" type="datetime1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1F391-6A8E-3DD1-AA3E-099C67E6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638E9-4BAB-5563-88CD-156F06F9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022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E763-F41D-F991-1AB4-82B8D57342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slide title, key point, or 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96128-8A19-FE3B-2DAF-0406DB5038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66800" y="1825625"/>
            <a:ext cx="10056813" cy="3736975"/>
          </a:xfrm>
        </p:spPr>
        <p:txBody>
          <a:bodyPr/>
          <a:lstStyle>
            <a:lvl2pPr marL="777240" indent="-182880">
              <a:defRPr/>
            </a:lvl2pPr>
          </a:lstStyle>
          <a:p>
            <a:pPr marL="201168" marR="0" lvl="0" indent="-201168" algn="l" defTabSz="9144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dirty="0"/>
              <a:t>Click to add text or choose an icon below to insert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BDCF0-7468-FACC-ACE3-74245710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5B02E-A76A-D543-896B-0002B4A60318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55521-2464-763C-14E3-1546CCD6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F393-FA98-BA11-DB7E-F32E606F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3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787D-E2BC-F3FE-5703-A9932B98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4114800" cy="2679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B8DDE-3683-969F-02EF-973A709694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676275"/>
            <a:ext cx="6399212" cy="45862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 or choose an icon below to insert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2CB31-00D3-E20B-B087-8ADEFEF73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3429000"/>
            <a:ext cx="4114800" cy="22860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A5B58-8500-964C-1BC6-DA163AB2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8D83B-FBE8-6341-9B65-B8DF7340B97B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413BC-AAC0-9E6D-3C7D-EC459FA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21EAB-7603-CF08-3D09-C89AAFB4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64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E1FC-5694-8B89-C491-7BA53E35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1613" y="762000"/>
            <a:ext cx="472598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6D286-2952-5BB3-594A-BF27B94849A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1" y="990600"/>
            <a:ext cx="5486400" cy="4298899"/>
          </a:xfrm>
          <a:noFill/>
          <a:effectLst/>
        </p:spPr>
        <p:txBody>
          <a:bodyPr tIns="36576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below to add picture. </a:t>
            </a:r>
            <a:br>
              <a:rPr lang="en-US" dirty="0"/>
            </a:br>
            <a:r>
              <a:rPr lang="en-US" dirty="0"/>
              <a:t>To crop the picture, click Crop on the Picture Tools tab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B9431-C3FE-7CB8-8A4E-11841E03B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613" y="3048000"/>
            <a:ext cx="4572000" cy="2241499"/>
          </a:xfrm>
        </p:spPr>
        <p:txBody>
          <a:bodyPr anchor="b" anchorCtr="0">
            <a:normAutofit/>
          </a:bodyPr>
          <a:lstStyle>
            <a:lvl1pPr marL="0" indent="0">
              <a:buClr>
                <a:schemeClr val="accent1"/>
              </a:buClr>
              <a:buSzPct val="120000"/>
              <a:buFont typeface="System Font Regular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E0845-C3A7-6E8F-5C61-5E11CF4C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22E21-6626-7F48-BD7E-E9F69B4CC986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0A072-5CE9-D9EB-FA5A-347D0DC3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6F95E-8EB8-15D7-077A-28ED3EBB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746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FC1A-8AA3-1F3A-309D-65B86EB5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BC937-51C8-A943-FFC9-D9B57CEB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CF7B2-6D0C-1749-99C8-CF428F75A01C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B8A71-9225-7CD8-1C83-DBBDBCDC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5A8CB-332D-9515-5CFE-8172E869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86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07C2-6D9C-BF04-E789-5975B362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5318-746A-F1C9-9F76-E0E02D493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25625"/>
            <a:ext cx="5029200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5F21F-1339-03C9-C6C8-52CF6F85F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1766" y="1825625"/>
            <a:ext cx="5029201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BD777-E1ED-B7BD-D234-FBA2A93D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2C91-2BFC-A04F-9296-2B99B3ED0817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BCB7D-2D1A-A8C3-18BF-F19BD4A6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1049C-0A42-1626-E4CB-C9416DAB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30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E5F2-E07D-49A5-45D2-61A59E6F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006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D649B-7DD0-707F-0286-3C79FF008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331" y="1421607"/>
            <a:ext cx="5026025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E628A-8E78-3092-8EEC-BCD0443E9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331" y="2245519"/>
            <a:ext cx="5026025" cy="313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09B32-F927-21F8-6DB7-B78B0048D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7645" y="1421607"/>
            <a:ext cx="503316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E6394-88A7-A6AA-0283-D80CBBB03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7645" y="2245519"/>
            <a:ext cx="5033168" cy="313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A32CFC-E655-92D0-91E5-1D2C643C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1133-C6F7-A54C-B4F9-F574FC8B44CF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D39A2-B6C2-50DB-DA1C-26525AE1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E5A19-DEF8-8A75-0CA7-231B9280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23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B92D9-0B28-E637-181B-4BD4F8C5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7659-B258-5942-BADA-20CC774035A0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54192-2427-0DC8-0EAA-A64403D9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13789-D139-DD4C-0551-12E374CD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99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525F-0A3B-0A82-FBA8-69CEB60A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726D1-60B7-13F2-745F-8628A92E3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964F2-ED7E-FB0A-F2FC-34613DC9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F8AD4-0A8D-1942-AD91-7D3C5A1D73BF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10DB-DBB4-3D40-4773-A7EC1479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FE995-CC29-4AFA-CB27-CF08B1F5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16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8F61B-E0C1-9CF0-2B16-FE8B941EC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DFCD1-4F9D-5A79-22BB-572B3A36F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F889-A890-6F2D-CE9F-A7EAED63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1F17A-2A7E-764E-8194-BD617B10743D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5AB35-9A8B-4638-DC3C-9A106845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9216-C74A-2574-5A1E-6232E83E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06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2366-6F37-2FAB-66CD-F6459520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D1D3B-A280-0547-5772-64372EE39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3C9B1-4E3B-F90C-8813-5E80FFB7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44EA1-8BCD-964C-87E6-31892231A579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F8DE9-576B-F05E-6B71-30892598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8C24C-5396-29AF-7F1E-2E1346DC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6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CommCnrShld">
            <a:extLst>
              <a:ext uri="{FF2B5EF4-FFF2-40B4-BE49-F238E27FC236}">
                <a16:creationId xmlns:a16="http://schemas.microsoft.com/office/drawing/2014/main" id="{1618A93B-3E0D-4C69-C17E-DF520880C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550401" y="3688081"/>
            <a:ext cx="2641599" cy="3169919"/>
            <a:chOff x="9550401" y="3688081"/>
            <a:chExt cx="2641599" cy="3169919"/>
          </a:xfrm>
        </p:grpSpPr>
        <p:sp>
          <p:nvSpPr>
            <p:cNvPr id="20" name="Corner Shield Shape Right">
              <a:extLst>
                <a:ext uri="{FF2B5EF4-FFF2-40B4-BE49-F238E27FC236}">
                  <a16:creationId xmlns:a16="http://schemas.microsoft.com/office/drawing/2014/main" id="{B7ECB6A5-D104-7FF6-DCD8-4B1AE2FA2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21" name="Comm Shield Corner">
              <a:extLst>
                <a:ext uri="{FF2B5EF4-FFF2-40B4-BE49-F238E27FC236}">
                  <a16:creationId xmlns:a16="http://schemas.microsoft.com/office/drawing/2014/main" id="{70B461F0-4C10-DA44-2A54-6677C5265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A061B-E2D0-062A-8997-8B6BC4AB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2739-D66F-AA7A-6920-E8A8EA468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93851"/>
            <a:ext cx="10972800" cy="419734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9654C-F683-C04E-AC9E-E1AB426C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413" y="5943600"/>
            <a:ext cx="3089211" cy="914400"/>
          </a:xfrm>
          <a:prstGeom prst="rect">
            <a:avLst/>
          </a:prstGeom>
        </p:spPr>
        <p:txBody>
          <a:bodyPr vert="horz" lIns="91440" tIns="265176" rIns="1005840" bIns="91440" rtlCol="0" anchor="t" anchorCtr="0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fld id="{9E944EA1-8BCD-964C-87E6-31892231A579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EAB10-171B-90F2-7CFE-E58935A2E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4388" y="5943600"/>
            <a:ext cx="5026025" cy="914400"/>
          </a:xfrm>
          <a:prstGeom prst="rect">
            <a:avLst/>
          </a:prstGeom>
        </p:spPr>
        <p:txBody>
          <a:bodyPr vert="horz" lIns="548640" tIns="265176" rIns="182880" bIns="91440" rtlCol="0" anchor="t" anchorCtr="0"/>
          <a:lstStyle>
            <a:lvl1pPr algn="l">
              <a:defRPr sz="1600" b="0" i="0">
                <a:solidFill>
                  <a:schemeClr val="tx2"/>
                </a:solidFill>
                <a:latin typeface="+mn-lt"/>
                <a:cs typeface="Arial Narrow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E1D52-E2F8-EB1B-5C28-22BEBDFE9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9624" y="5943600"/>
            <a:ext cx="722376" cy="914400"/>
          </a:xfrm>
          <a:prstGeom prst="rect">
            <a:avLst/>
          </a:prstGeom>
        </p:spPr>
        <p:txBody>
          <a:bodyPr vert="horz" lIns="91440" tIns="265176" rIns="91440" bIns="91440" rtlCol="0" anchor="t" anchorCtr="0"/>
          <a:lstStyle>
            <a:lvl1pPr algn="ctr">
              <a:defRPr sz="1600" b="1" i="0">
                <a:solidFill>
                  <a:srgbClr val="F0F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E1D1B55-F3E9-1242-8F18-D400619368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enn State Mark on Light BG">
            <a:extLst>
              <a:ext uri="{FF2B5EF4-FFF2-40B4-BE49-F238E27FC236}">
                <a16:creationId xmlns:a16="http://schemas.microsoft.com/office/drawing/2014/main" id="{4FF244CC-1E2C-0F93-5B63-C9B4115A94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493044" y="6100550"/>
            <a:ext cx="1709112" cy="60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5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2" r:id="rId3"/>
    <p:sldLayoutId id="2147483656" r:id="rId4"/>
    <p:sldLayoutId id="2147483657" r:id="rId5"/>
    <p:sldLayoutId id="2147483675" r:id="rId6"/>
    <p:sldLayoutId id="2147483673" r:id="rId7"/>
    <p:sldLayoutId id="2147483674" r:id="rId8"/>
    <p:sldLayoutId id="2147483655" r:id="rId9"/>
    <p:sldLayoutId id="2147483658" r:id="rId10"/>
    <p:sldLayoutId id="2147483659" r:id="rId11"/>
    <p:sldLayoutId id="2147483676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1168" indent="-201168" algn="l" defTabSz="914400" rtl="0" eaLnBrk="1" latinLnBrk="0" hangingPunct="1">
        <a:lnSpc>
          <a:spcPct val="90000"/>
        </a:lnSpc>
        <a:spcBef>
          <a:spcPts val="2000"/>
        </a:spcBef>
        <a:buClr>
          <a:schemeClr val="tx2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51560" indent="-137160" algn="l" defTabSz="914400" rtl="0" eaLnBrk="1" latinLnBrk="0" hangingPunct="1">
        <a:lnSpc>
          <a:spcPct val="90000"/>
        </a:lnSpc>
        <a:spcBef>
          <a:spcPts val="11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1732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6596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2B7E6"/>
          </p15:clr>
        </p15:guide>
        <p15:guide id="2" pos="7680" userDrawn="1">
          <p15:clr>
            <a:srgbClr val="A2B7E6"/>
          </p15:clr>
        </p15:guide>
        <p15:guide id="3" pos="384" userDrawn="1">
          <p15:clr>
            <a:srgbClr val="A2B7E6"/>
          </p15:clr>
        </p15:guide>
        <p15:guide id="4" pos="672" userDrawn="1">
          <p15:clr>
            <a:srgbClr val="A2B7E6"/>
          </p15:clr>
        </p15:guide>
        <p15:guide id="5" pos="960" userDrawn="1">
          <p15:clr>
            <a:srgbClr val="A2B7E6"/>
          </p15:clr>
        </p15:guide>
        <p15:guide id="6" pos="1248" userDrawn="1">
          <p15:clr>
            <a:srgbClr val="A2B7E6"/>
          </p15:clr>
        </p15:guide>
        <p15:guide id="7" pos="1536" userDrawn="1">
          <p15:clr>
            <a:srgbClr val="A2B7E6"/>
          </p15:clr>
        </p15:guide>
        <p15:guide id="8" pos="1824" userDrawn="1">
          <p15:clr>
            <a:srgbClr val="A2B7E6"/>
          </p15:clr>
        </p15:guide>
        <p15:guide id="9" pos="2112" userDrawn="1">
          <p15:clr>
            <a:srgbClr val="A2B7E6"/>
          </p15:clr>
        </p15:guide>
        <p15:guide id="10" pos="2400" userDrawn="1">
          <p15:clr>
            <a:srgbClr val="A2B7E6"/>
          </p15:clr>
        </p15:guide>
        <p15:guide id="11" pos="2688" userDrawn="1">
          <p15:clr>
            <a:srgbClr val="A2B7E6"/>
          </p15:clr>
        </p15:guide>
        <p15:guide id="12" pos="2976" userDrawn="1">
          <p15:clr>
            <a:srgbClr val="A2B7E6"/>
          </p15:clr>
        </p15:guide>
        <p15:guide id="13" pos="3264" userDrawn="1">
          <p15:clr>
            <a:srgbClr val="A2B7E6"/>
          </p15:clr>
        </p15:guide>
        <p15:guide id="14" pos="3552" userDrawn="1">
          <p15:clr>
            <a:srgbClr val="A2B7E6"/>
          </p15:clr>
        </p15:guide>
        <p15:guide id="15" pos="3840" userDrawn="1">
          <p15:clr>
            <a:srgbClr val="A2B7E6"/>
          </p15:clr>
        </p15:guide>
        <p15:guide id="16" pos="4127" userDrawn="1">
          <p15:clr>
            <a:srgbClr val="A2B7E6"/>
          </p15:clr>
        </p15:guide>
        <p15:guide id="17" pos="4415" userDrawn="1">
          <p15:clr>
            <a:srgbClr val="A2B7E6"/>
          </p15:clr>
        </p15:guide>
        <p15:guide id="18" pos="4703" userDrawn="1">
          <p15:clr>
            <a:srgbClr val="A2B7E6"/>
          </p15:clr>
        </p15:guide>
        <p15:guide id="19" pos="4991" userDrawn="1">
          <p15:clr>
            <a:srgbClr val="A2B7E6"/>
          </p15:clr>
        </p15:guide>
        <p15:guide id="20" pos="5279" userDrawn="1">
          <p15:clr>
            <a:srgbClr val="A2B7E6"/>
          </p15:clr>
        </p15:guide>
        <p15:guide id="21" pos="5567" userDrawn="1">
          <p15:clr>
            <a:srgbClr val="A2B7E6"/>
          </p15:clr>
        </p15:guide>
        <p15:guide id="22" pos="5855" userDrawn="1">
          <p15:clr>
            <a:srgbClr val="A2B7E6"/>
          </p15:clr>
        </p15:guide>
        <p15:guide id="23" pos="6144" userDrawn="1">
          <p15:clr>
            <a:srgbClr val="A2B7E6"/>
          </p15:clr>
        </p15:guide>
        <p15:guide id="24" pos="6431" userDrawn="1">
          <p15:clr>
            <a:srgbClr val="A2B7E6"/>
          </p15:clr>
        </p15:guide>
        <p15:guide id="25" pos="6719" userDrawn="1">
          <p15:clr>
            <a:srgbClr val="A2B7E6"/>
          </p15:clr>
        </p15:guide>
        <p15:guide id="26" pos="7007" userDrawn="1">
          <p15:clr>
            <a:srgbClr val="A2B7E6"/>
          </p15:clr>
        </p15:guide>
        <p15:guide id="27" pos="7295" userDrawn="1">
          <p15:clr>
            <a:srgbClr val="A2B7E6"/>
          </p15:clr>
        </p15:guide>
        <p15:guide id="28" orient="horz" userDrawn="1">
          <p15:clr>
            <a:srgbClr val="A2B7E6"/>
          </p15:clr>
        </p15:guide>
        <p15:guide id="29" orient="horz" pos="4320" userDrawn="1">
          <p15:clr>
            <a:srgbClr val="A2B7E6"/>
          </p15:clr>
        </p15:guide>
        <p15:guide id="30" orient="horz" pos="426" userDrawn="1">
          <p15:clr>
            <a:srgbClr val="A2B7E6"/>
          </p15:clr>
        </p15:guide>
        <p15:guide id="31" orient="horz" pos="1004" userDrawn="1">
          <p15:clr>
            <a:srgbClr val="A2B7E6"/>
          </p15:clr>
        </p15:guide>
        <p15:guide id="32" orient="horz" pos="1582" userDrawn="1">
          <p15:clr>
            <a:srgbClr val="A2B7E6"/>
          </p15:clr>
        </p15:guide>
        <p15:guide id="33" orient="horz" pos="2160" userDrawn="1">
          <p15:clr>
            <a:srgbClr val="A2B7E6"/>
          </p15:clr>
        </p15:guide>
        <p15:guide id="34" orient="horz" pos="2737" userDrawn="1">
          <p15:clr>
            <a:srgbClr val="A2B7E6"/>
          </p15:clr>
        </p15:guide>
        <p15:guide id="35" orient="horz" pos="3315" userDrawn="1">
          <p15:clr>
            <a:srgbClr val="A2B7E6"/>
          </p15:clr>
        </p15:guide>
        <p15:guide id="36" orient="horz" pos="3893" userDrawn="1">
          <p15:clr>
            <a:srgbClr val="A2B7E6"/>
          </p15:clr>
        </p15:guide>
        <p15:guide id="37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DCF5-7798-9B0B-FF9C-A5E14151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IST 256 Final Storefront 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B23E6-0E8E-3F0C-083E-09E0E31B5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Team Member 1 Placeholder</a:t>
            </a:r>
          </a:p>
          <a:p>
            <a:r>
              <a:rPr lang="en-US"/>
              <a:t>Team Member 2 Placeholder</a:t>
            </a:r>
          </a:p>
          <a:p>
            <a:r>
              <a:rPr lang="en-US"/>
              <a:t>Team Member 3 Placeholder</a:t>
            </a:r>
          </a:p>
          <a:p>
            <a:r>
              <a:rPr lang="en-US"/>
              <a:t>Student Club Portal Storefront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DF409-827E-B6F8-B299-1275B685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53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E88C-9BC4-93FE-6AAA-F686EF20C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Required Storefront Pages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46D18-CB7B-AE9C-2E14-551CB69CA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Sign Up: shopper profile saved to MongoDB</a:t>
            </a:r>
          </a:p>
          <a:p>
            <a:r>
              <a:rPr lang="en-US"/>
              <a:t>Home: navigation and project overview</a:t>
            </a:r>
          </a:p>
          <a:p>
            <a:r>
              <a:rPr lang="en-US"/>
              <a:t>Product Details: product catalog cards</a:t>
            </a:r>
          </a:p>
          <a:p>
            <a:r>
              <a:rPr lang="en-US"/>
              <a:t>Shopping Cart: MongoDB-backed cart session</a:t>
            </a:r>
          </a:p>
          <a:p>
            <a:r>
              <a:rPr lang="en-US"/>
              <a:t>Product Management: admin CRUD</a:t>
            </a:r>
          </a:p>
          <a:p>
            <a:r>
              <a:rPr lang="en-US"/>
              <a:t>Shipping and Billing: checkout sections</a:t>
            </a:r>
          </a:p>
          <a:p>
            <a:r>
              <a:rPr lang="en-US"/>
              <a:t>Returns: customer request and admin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A7CED-D947-90C2-FF75-DCB5508B9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09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F555-40EC-A7D2-7290-EFD2FA32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23788-93F9-B859-C2EB-06CDDD626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React and Bootstrap frontend</a:t>
            </a:r>
          </a:p>
          <a:p>
            <a:r>
              <a:rPr lang="en-US"/>
              <a:t>Node.js and Express REST API</a:t>
            </a:r>
          </a:p>
          <a:p>
            <a:r>
              <a:rPr lang="en-US"/>
              <a:t>Mongoose models</a:t>
            </a:r>
          </a:p>
          <a:p>
            <a:r>
              <a:rPr lang="en-US"/>
              <a:t>Local MongoDB database: ist256_storefront</a:t>
            </a:r>
          </a:p>
          <a:p>
            <a:r>
              <a:rPr lang="en-US"/>
              <a:t>Collections: shopper, products, shopping_cart, orders, returns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0D0DD-ADAF-3180-A96D-0C6944C7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02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39AB-EA03-72C7-032A-A6D8B9A1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Highlight: Frontend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C65B3-92F1-A2B2-0D28-9DEDAFD97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HTML structure through React components</a:t>
            </a:r>
          </a:p>
          <a:p>
            <a:r>
              <a:rPr lang="en-US"/>
              <a:t>CSS and Bootstrap layout, forms, tables, alerts, and cards</a:t>
            </a:r>
          </a:p>
          <a:p>
            <a:r>
              <a:rPr lang="en-US"/>
              <a:t>JavaScript validation and state with useState/useEffect</a:t>
            </a:r>
          </a:p>
          <a:p>
            <a:r>
              <a:rPr lang="en-US"/>
              <a:t>AJAX/fetch calls to backend API</a:t>
            </a:r>
          </a:p>
          <a:p>
            <a:r>
              <a:rPr lang="en-US"/>
              <a:t>JSON request and response payloads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AAF81-F00E-152C-8678-37CCDA1A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41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305CB-0C48-E56C-355C-E3B19DEA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Highlight: Backend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7C665-3475-DC62-B0C2-69A514123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Express routes for RESTful CRUD</a:t>
            </a:r>
          </a:p>
          <a:p>
            <a:r>
              <a:rPr lang="en-US"/>
              <a:t>Mongoose schemas and models</a:t>
            </a:r>
          </a:p>
          <a:p>
            <a:r>
              <a:rPr lang="en-US"/>
              <a:t>Server-side validation</a:t>
            </a:r>
          </a:p>
          <a:p>
            <a:r>
              <a:rPr lang="en-US"/>
              <a:t>Status codes for success and errors</a:t>
            </a:r>
          </a:p>
          <a:p>
            <a:r>
              <a:rPr lang="en-US"/>
              <a:t>Database seed for initial products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B6B7D-7264-5CDB-03C4-BFFC5464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364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B231B-ACE1-430B-1DA1-F9995B931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Flow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FFDA1-C106-6544-6D70-21AC604B6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Home</a:t>
            </a:r>
          </a:p>
          <a:p>
            <a:r>
              <a:rPr lang="en-US"/>
              <a:t>Create a Sign Up shopper record</a:t>
            </a:r>
          </a:p>
          <a:p>
            <a:r>
              <a:rPr lang="en-US"/>
              <a:t>Open Store and review Product Details</a:t>
            </a:r>
          </a:p>
          <a:p>
            <a:r>
              <a:rPr lang="en-US"/>
              <a:t>Send a product to Shopping Cart</a:t>
            </a:r>
          </a:p>
          <a:p>
            <a:r>
              <a:rPr lang="en-US"/>
              <a:t>Confirm cart persists through backend sync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F5ABF-0BB0-BDC2-BA2F-C26FFE282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371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6BD8-94A4-BFB9-B727-C4C28222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Flow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F3531-FCEE-288D-B564-759ACFE7B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Checkout</a:t>
            </a:r>
          </a:p>
          <a:p>
            <a:r>
              <a:rPr lang="en-US"/>
              <a:t>Complete contact, Shipping, and Billing fields</a:t>
            </a:r>
          </a:p>
          <a:p>
            <a:r>
              <a:rPr lang="en-US"/>
              <a:t>Submit order to MongoDB</a:t>
            </a:r>
          </a:p>
          <a:p>
            <a:r>
              <a:rPr lang="en-US"/>
              <a:t>Open My Orders to show status</a:t>
            </a:r>
          </a:p>
          <a:p>
            <a:r>
              <a:rPr lang="en-US"/>
              <a:t>Use Admin Review to approve or decline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8E394-1D47-1440-749E-806AF048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991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ACBF-4108-0D6D-2E4C-2530FC0E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Flow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509C5-5C58-1F3B-ABF9-46594B33A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Product Management to add, edit, and delete products</a:t>
            </a:r>
          </a:p>
          <a:p>
            <a:r>
              <a:rPr lang="en-US"/>
              <a:t>Submit a Returns request for an order</a:t>
            </a:r>
          </a:p>
          <a:p>
            <a:r>
              <a:rPr lang="en-US"/>
              <a:t>Use Admin Returns to approve, resolve, decline, or delete request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4A919-A783-56A1-D533-1925801F8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68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6EE7-B012-9549-F67B-1D34EDC1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Evidence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1BF35-803C-C2A5-E5D6-AFF454DC9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20-row test plan spreadsheet generated</a:t>
            </a:r>
          </a:p>
          <a:p>
            <a:r>
              <a:rPr lang="en-US"/>
              <a:t>Positive CRUD tests for shopper, products, shopping cart, orders, returns</a:t>
            </a:r>
          </a:p>
          <a:p>
            <a:r>
              <a:rPr lang="en-US"/>
              <a:t>Negative tests for duplicate email, invalid product, empty cart, invalid status, unknown order return</a:t>
            </a:r>
          </a:p>
          <a:p>
            <a:r>
              <a:rPr lang="en-US"/>
              <a:t>MongoDB counts captured with mongosh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12D93-929E-B79C-300A-CC3B3395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92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3CFB-EFB3-B0AC-EE90-5EC4F0B0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390B9-03A8-D589-4815-A3D5A54A5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Did well: kept the storefront functional while moving data into MongoDB</a:t>
            </a:r>
          </a:p>
          <a:p>
            <a:r>
              <a:rPr lang="en-US"/>
              <a:t>Struggled with: replacing browser/file state with persistent end-to-end CRUD</a:t>
            </a:r>
          </a:p>
          <a:p>
            <a:r>
              <a:rPr lang="en-US"/>
              <a:t>Final note: replace placeholder team names before submission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38638-AA72-3E52-BC79-63F4A2BC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64359"/>
      </p:ext>
    </p:extLst>
  </p:cSld>
  <p:clrMapOvr>
    <a:masterClrMapping/>
  </p:clrMapOvr>
</p:sld>
</file>

<file path=ppt/theme/theme1.xml><?xml version="1.0" encoding="utf-8"?>
<a:theme xmlns:a="http://schemas.openxmlformats.org/drawingml/2006/main" name="PSU Corner Shield Basic Theme">
  <a:themeElements>
    <a:clrScheme name="PSU Base Color Theme">
      <a:dk1>
        <a:srgbClr val="262626"/>
      </a:dk1>
      <a:lt1>
        <a:srgbClr val="FFFFFF"/>
      </a:lt1>
      <a:dk2>
        <a:srgbClr val="1E407C"/>
      </a:dk2>
      <a:lt2>
        <a:srgbClr val="CCF0FF"/>
      </a:lt2>
      <a:accent1>
        <a:srgbClr val="009CDE"/>
      </a:accent1>
      <a:accent2>
        <a:srgbClr val="1E407C"/>
      </a:accent2>
      <a:accent3>
        <a:srgbClr val="A2AAAD"/>
      </a:accent3>
      <a:accent4>
        <a:srgbClr val="96BEE6"/>
      </a:accent4>
      <a:accent5>
        <a:srgbClr val="3EA39E"/>
      </a:accent5>
      <a:accent6>
        <a:srgbClr val="304D64"/>
      </a:accent6>
      <a:hlink>
        <a:srgbClr val="005FA9"/>
      </a:hlink>
      <a:folHlink>
        <a:srgbClr val="AC8DC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mpd="sng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Corner-Shield_v03-02.pptx" id="{199CED2F-3E11-A249-A8A0-371F2253AE5A}" vid="{7D869A32-DE16-724D-AC64-F2155F6B84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AA8ACD05E6AC4FAE5817B65DABDCA5" ma:contentTypeVersion="19" ma:contentTypeDescription="Create a new document." ma:contentTypeScope="" ma:versionID="95128558676497b696e0985bf080d63d">
  <xsd:schema xmlns:xsd="http://www.w3.org/2001/XMLSchema" xmlns:xs="http://www.w3.org/2001/XMLSchema" xmlns:p="http://schemas.microsoft.com/office/2006/metadata/properties" xmlns:ns1="http://schemas.microsoft.com/sharepoint/v3" xmlns:ns2="f5c5807d-fbed-48e0-b826-4d7a3ffa96e8" xmlns:ns3="e619dcfe-f991-47c3-89a4-0749bf25bc34" targetNamespace="http://schemas.microsoft.com/office/2006/metadata/properties" ma:root="true" ma:fieldsID="43b73affe4720d74700a2d66868abc44" ns1:_="" ns2:_="" ns3:_="">
    <xsd:import namespace="http://schemas.microsoft.com/sharepoint/v3"/>
    <xsd:import namespace="f5c5807d-fbed-48e0-b826-4d7a3ffa96e8"/>
    <xsd:import namespace="e619dcfe-f991-47c3-89a4-0749bf25bc3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5807d-fbed-48e0-b826-4d7a3ffa96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19dcfe-f991-47c3-89a4-0749bf25bc34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b24e140a-a16d-4c02-8470-fcc1416aa2e2}" ma:internalName="TaxCatchAll" ma:showField="CatchAllData" ma:web="e619dcfe-f991-47c3-89a4-0749bf25b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619dcfe-f991-47c3-89a4-0749bf25bc34" xsi:nil="true"/>
    <lcf76f155ced4ddcb4097134ff3c332f xmlns="f5c5807d-fbed-48e0-b826-4d7a3ffa96e8">
      <Terms xmlns="http://schemas.microsoft.com/office/infopath/2007/PartnerControls"/>
    </lcf76f155ced4ddcb4097134ff3c332f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2A28E7-DF3F-420E-BA65-627BC6B61B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5c5807d-fbed-48e0-b826-4d7a3ffa96e8"/>
    <ds:schemaRef ds:uri="e619dcfe-f991-47c3-89a4-0749bf25bc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C83BC7-AE5F-43EE-B82C-5758B69134B6}">
  <ds:schemaRefs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3c8fd356-1280-4d00-a910-3bff90828a90"/>
    <ds:schemaRef ds:uri="28f5b418-f2c1-4a16-8283-c5ed56dbb9cc"/>
    <ds:schemaRef ds:uri="http://purl.org/dc/terms/"/>
    <ds:schemaRef ds:uri="542b8847-f5d4-4c9f-bd30-657d16e5db1d"/>
    <ds:schemaRef ds:uri="c7c738f6-68ec-422e-b0e4-3523873f7adf"/>
    <ds:schemaRef ds:uri="e619dcfe-f991-47c3-89a4-0749bf25bc34"/>
    <ds:schemaRef ds:uri="f5c5807d-fbed-48e0-b826-4d7a3ffa96e8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2D3C5FBF-CEB1-4F21-9D6B-FCB7D4B4E06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PPT_Corner-Shield_v03-2</Template>
  <TotalTime>10</TotalTime>
  <Words>352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Franklin Gothic Book</vt:lpstr>
      <vt:lpstr>Franklin Gothic Medium</vt:lpstr>
      <vt:lpstr>System Font Regular</vt:lpstr>
      <vt:lpstr>Wingdings</vt:lpstr>
      <vt:lpstr>PSU Corner Shield Basic Theme</vt:lpstr>
      <vt:lpstr>IST 256 Final Storefront Presentation</vt:lpstr>
      <vt:lpstr>Required Storefront Pages</vt:lpstr>
      <vt:lpstr>System Architecture</vt:lpstr>
      <vt:lpstr>Code Highlight: Frontend</vt:lpstr>
      <vt:lpstr>Code Highlight: Backend</vt:lpstr>
      <vt:lpstr>Demo Flow 1</vt:lpstr>
      <vt:lpstr>Demo Flow 2</vt:lpstr>
      <vt:lpstr>Demo Flow 3</vt:lpstr>
      <vt:lpstr>Testing Evidence</vt:lpstr>
      <vt:lpstr>Reflection</vt:lpstr>
    </vt:vector>
  </TitlesOfParts>
  <Manager/>
  <Company>The Pennsylvania State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Ford, Jordan</dc:creator>
  <cp:keywords>basic, brand, layout, Penn State, PowerPoint, presentation, template</cp:keywords>
  <dc:description/>
  <cp:lastModifiedBy>Soled, Zachary</cp:lastModifiedBy>
  <cp:revision>2</cp:revision>
  <cp:lastPrinted>2025-07-22T15:00:44Z</cp:lastPrinted>
  <dcterms:created xsi:type="dcterms:W3CDTF">2025-10-09T19:00:15Z</dcterms:created>
  <dcterms:modified xsi:type="dcterms:W3CDTF">2026-04-23T22:41:54Z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0x01010000AA8ACD05E6AC4FAE5817B65DABDCA5</vt:lpwstr>
  </property>
  <property fmtid="{D5CDD505-2E9C-101B-9397-08002B2CF9AE}" pid="3" name="MediaServiceImageTags">
    <vt:lpwstr/>
  </property>
  <property fmtid="{D5CDD505-2E9C-101B-9397-08002B2CF9AE}" pid="4" name="Version">
    <vt:lpwstr>3.2</vt:lpwstr>
  </property>
</Properties>
</file>